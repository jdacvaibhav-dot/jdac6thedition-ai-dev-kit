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60" d="100"/>
          <a:sy n="160" d="100"/>
        </p:scale>
        <p:origin x="78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5100" cy="51435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origin-log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1000"/>
            <a:ext cx="2159000" cy="431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270000"/>
            <a:ext cx="3556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AI-Assisted Databricks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591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>
                <a:solidFill>
                  <a:srgbClr val="9B9B9B"/>
                </a:solidFill>
                <a:latin typeface="Calibri"/>
              </a:rPr>
              <a:t>Building on Databricks with the AI Dev Kit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19400"/>
            <a:ext cx="762000" cy="254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3441700"/>
            <a:ext cx="3556000" cy="7008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Jaipur </a:t>
            </a:r>
            <a:r>
              <a:rPr sz="1200" b="0" i="0" dirty="0">
                <a:solidFill>
                  <a:srgbClr val="FFFFFF"/>
                </a:solidFill>
                <a:latin typeface="Calibri"/>
              </a:rPr>
              <a:t>Databricks User Group</a:t>
            </a:r>
          </a:p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FFFFFF"/>
                </a:solidFill>
                <a:latin typeface="Calibri"/>
              </a:rPr>
              <a:t>6th Edition</a:t>
            </a:r>
          </a:p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FFFFFF"/>
                </a:solidFill>
                <a:latin typeface="Calibri"/>
              </a:rPr>
              <a:t>Bradley Jamrozik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72000"/>
            <a:ext cx="3556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B9B9B"/>
                </a:solidFill>
                <a:latin typeface="Calibri"/>
              </a:rPr>
              <a:t>September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0"/>
            <a:ext cx="12700" cy="5143500"/>
          </a:xfrm>
          <a:prstGeom prst="rect">
            <a:avLst/>
          </a:prstGeom>
          <a:solidFill>
            <a:srgbClr val="344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19600" y="1270000"/>
            <a:ext cx="4318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What we'll cover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41500"/>
            <a:ext cx="2006600" cy="381000"/>
          </a:xfrm>
          <a:prstGeom prst="roundRect">
            <a:avLst/>
          </a:prstGeom>
          <a:solidFill>
            <a:srgbClr val="222F2E"/>
          </a:solidFill>
          <a:ln w="12700">
            <a:solidFill>
              <a:srgbClr val="ADFF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tlCol="0" anchor="ctr"/>
          <a:lstStyle/>
          <a:p>
            <a:pPr algn="ctr"/>
            <a:r>
              <a:rPr sz="1100" b="1">
                <a:solidFill>
                  <a:srgbClr val="ADFF26"/>
                </a:solidFill>
                <a:latin typeface="Calibri"/>
              </a:rPr>
              <a:t>Skill-based AI tooling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78600" y="1841500"/>
            <a:ext cx="2006600" cy="381000"/>
          </a:xfrm>
          <a:prstGeom prst="roundRect">
            <a:avLst/>
          </a:prstGeom>
          <a:solidFill>
            <a:srgbClr val="222F2E"/>
          </a:solidFill>
          <a:ln w="12700">
            <a:solidFill>
              <a:srgbClr val="ADFF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tlCol="0" anchor="ctr"/>
          <a:lstStyle/>
          <a:p>
            <a:pPr algn="ctr"/>
            <a:r>
              <a:rPr sz="1100" b="1">
                <a:solidFill>
                  <a:srgbClr val="ADFF26"/>
                </a:solidFill>
                <a:latin typeface="Calibri"/>
              </a:rPr>
              <a:t>Install in seconds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9600" y="2374900"/>
            <a:ext cx="2006600" cy="381000"/>
          </a:xfrm>
          <a:prstGeom prst="roundRect">
            <a:avLst/>
          </a:prstGeom>
          <a:solidFill>
            <a:srgbClr val="222F2E"/>
          </a:solidFill>
          <a:ln w="12700">
            <a:solidFill>
              <a:srgbClr val="ADFF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tlCol="0" anchor="ctr"/>
          <a:lstStyle/>
          <a:p>
            <a:pPr algn="ctr"/>
            <a:r>
              <a:rPr sz="1100" b="1">
                <a:solidFill>
                  <a:srgbClr val="ADFF26"/>
                </a:solidFill>
                <a:latin typeface="Calibri"/>
              </a:rPr>
              <a:t>Best-practice curation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78600" y="2374900"/>
            <a:ext cx="2006600" cy="381000"/>
          </a:xfrm>
          <a:prstGeom prst="roundRect">
            <a:avLst/>
          </a:prstGeom>
          <a:solidFill>
            <a:srgbClr val="222F2E"/>
          </a:solidFill>
          <a:ln w="12700">
            <a:solidFill>
              <a:srgbClr val="ADFF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tlCol="0" anchor="ctr"/>
          <a:lstStyle/>
          <a:p>
            <a:pPr algn="ctr"/>
            <a:r>
              <a:rPr sz="1100" b="1">
                <a:solidFill>
                  <a:srgbClr val="ADFF26"/>
                </a:solidFill>
                <a:latin typeface="Calibri"/>
              </a:rPr>
              <a:t>Live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9600" y="2921000"/>
            <a:ext cx="4318000" cy="12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419600" y="2921000"/>
            <a:ext cx="4318000" cy="12700"/>
          </a:xfrm>
          <a:prstGeom prst="rect">
            <a:avLst/>
          </a:prstGeom>
          <a:solidFill>
            <a:srgbClr val="344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19600" y="3111500"/>
            <a:ext cx="4318000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B9B9B"/>
                </a:solidFill>
                <a:latin typeface="Calibri"/>
              </a:rPr>
              <a:t>The Databricks AI Dev Kit turns a coding agent into a Databricks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B9B9B"/>
                </a:solidFill>
                <a:latin typeface="Calibri"/>
              </a:rPr>
              <a:t>expert — skills for bundles, pipelines, dashboards, and governance,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B9B9B"/>
                </a:solidFill>
                <a:latin typeface="Calibri"/>
              </a:rPr>
              <a:t>installed with one command.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8300" y="228600"/>
            <a:ext cx="84074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41712"/>
                </a:solidFill>
                <a:latin typeface="Calibri"/>
              </a:rPr>
              <a:t>What Is the AI Dev 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300" y="698500"/>
            <a:ext cx="508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77766E"/>
                </a:solidFill>
                <a:latin typeface="Calibri"/>
              </a:rPr>
              <a:t>01 /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68300" y="965200"/>
            <a:ext cx="8407400" cy="12700"/>
          </a:xfrm>
          <a:prstGeom prst="rect">
            <a:avLst/>
          </a:prstGeom>
          <a:solidFill>
            <a:srgbClr val="E3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origin-logo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400" y="4749800"/>
            <a:ext cx="182880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8300" y="1270000"/>
            <a:ext cx="8407400" cy="5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41712"/>
                </a:solidFill>
                <a:latin typeface="Calibri"/>
              </a:rPr>
              <a:t>A set of Databricks-specific skills for coding agents — Claude Code, Codex, GitHub Copilot, and others.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8300" y="2032000"/>
            <a:ext cx="8407400" cy="787400"/>
          </a:xfrm>
          <a:prstGeom prst="rect">
            <a:avLst/>
          </a:prstGeom>
          <a:solidFill>
            <a:srgbClr val="1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8300" y="2032000"/>
            <a:ext cx="50800" cy="7874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1500" y="2133600"/>
            <a:ext cx="802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ADFF26"/>
                </a:solidFill>
                <a:latin typeface="Calibri"/>
              </a:rPr>
              <a:t>Domain expertise on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2387600"/>
            <a:ext cx="80264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The agent gets Databricks-specific know-how — CLI auth, bundle structure, pipeline patterns — instead of generic guesses.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8300" y="2946400"/>
            <a:ext cx="8407400" cy="787400"/>
          </a:xfrm>
          <a:prstGeom prst="rect">
            <a:avLst/>
          </a:prstGeom>
          <a:solidFill>
            <a:srgbClr val="1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8300" y="2946400"/>
            <a:ext cx="50800" cy="7874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1500" y="3048000"/>
            <a:ext cx="802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ADFF26"/>
                </a:solidFill>
                <a:latin typeface="Calibri"/>
              </a:rPr>
              <a:t>Works with your existing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3302000"/>
            <a:ext cx="80264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No new tool to learn: it plugs into Claude Code (and other coding agents) as skills the agent reads before acting.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8300" y="3860800"/>
            <a:ext cx="8407400" cy="787400"/>
          </a:xfrm>
          <a:prstGeom prst="rect">
            <a:avLst/>
          </a:prstGeom>
          <a:solidFill>
            <a:srgbClr val="1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8300" y="3860800"/>
            <a:ext cx="50800" cy="7874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1500" y="3962400"/>
            <a:ext cx="802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ADFF26"/>
                </a:solidFill>
                <a:latin typeface="Calibri"/>
              </a:rPr>
              <a:t>Built for real project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" y="4216400"/>
            <a:ext cx="80264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Lets an agent build and deploy Declarative Automation Bundles, pipelines, and dashboards — like the bundle powering this repo.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8300" y="228600"/>
            <a:ext cx="84074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41712"/>
                </a:solidFill>
                <a:latin typeface="Calibri"/>
              </a:rPr>
              <a:t>Install the AI Dev 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300" y="698500"/>
            <a:ext cx="508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77766E"/>
                </a:solidFill>
                <a:latin typeface="Calibri"/>
              </a:rPr>
              <a:t>02 / Install &amp; Configure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8300" y="965200"/>
            <a:ext cx="8407400" cy="12700"/>
          </a:xfrm>
          <a:prstGeom prst="rect">
            <a:avLst/>
          </a:prstGeom>
          <a:solidFill>
            <a:srgbClr val="E3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origin-logo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400" y="4749800"/>
            <a:ext cx="1828800" cy="365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8300" y="1270000"/>
            <a:ext cx="8407400" cy="660400"/>
          </a:xfrm>
          <a:prstGeom prst="rect">
            <a:avLst/>
          </a:prstGeom>
          <a:solidFill>
            <a:srgbClr val="1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8300" y="1270000"/>
            <a:ext cx="50800" cy="6604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1500" y="1371600"/>
            <a:ext cx="812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ADFF26"/>
                </a:solidFill>
                <a:latin typeface="Consolas"/>
              </a:rPr>
              <a:t>databricks aitools 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1651000"/>
            <a:ext cx="812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Default path — installs the official plugin, all skills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8300" y="2057400"/>
            <a:ext cx="8407400" cy="660400"/>
          </a:xfrm>
          <a:prstGeom prst="rect">
            <a:avLst/>
          </a:prstGeom>
          <a:solidFill>
            <a:srgbClr val="1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8300" y="2057400"/>
            <a:ext cx="50800" cy="6604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1500" y="2159000"/>
            <a:ext cx="812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ADFF26"/>
                </a:solidFill>
                <a:latin typeface="Consolas"/>
              </a:rPr>
              <a:t>databricks aitools install --skills-only --scope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2438400"/>
            <a:ext cx="812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Raw skill files only, scoped to this project.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300" y="2844800"/>
            <a:ext cx="8407400" cy="660400"/>
          </a:xfrm>
          <a:prstGeom prst="rect">
            <a:avLst/>
          </a:prstGeom>
          <a:solidFill>
            <a:srgbClr val="1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8300" y="2844800"/>
            <a:ext cx="50800" cy="6604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1500" y="2946400"/>
            <a:ext cx="812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ADFF26"/>
                </a:solidFill>
                <a:latin typeface="Consolas"/>
              </a:rPr>
              <a:t>databricks aitools install --scope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" y="3225800"/>
            <a:ext cx="812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Plugin-managed install, scoped to this project.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300" y="3632200"/>
            <a:ext cx="8407400" cy="660400"/>
          </a:xfrm>
          <a:prstGeom prst="rect">
            <a:avLst/>
          </a:prstGeom>
          <a:solidFill>
            <a:srgbClr val="1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8300" y="3632200"/>
            <a:ext cx="50800" cy="6604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500" y="3733800"/>
            <a:ext cx="812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ADFF26"/>
                </a:solidFill>
                <a:latin typeface="Consolas"/>
              </a:rPr>
              <a:t>databricks aitools update --scope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4013200"/>
            <a:ext cx="812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Keep an installed project toolkit current.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8300" y="228600"/>
            <a:ext cx="84074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41712"/>
                </a:solidFill>
                <a:latin typeface="Calibri"/>
              </a:rPr>
              <a:t>Best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300" y="698500"/>
            <a:ext cx="508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77766E"/>
                </a:solidFill>
                <a:latin typeface="Calibri"/>
              </a:rPr>
              <a:t>02 / Install &amp; Configure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8300" y="965200"/>
            <a:ext cx="8407400" cy="12700"/>
          </a:xfrm>
          <a:prstGeom prst="rect">
            <a:avLst/>
          </a:prstGeom>
          <a:solidFill>
            <a:srgbClr val="E3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origin-logo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400" y="4749800"/>
            <a:ext cx="1828800" cy="365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8300" y="1270000"/>
            <a:ext cx="8407400" cy="990600"/>
          </a:xfrm>
          <a:prstGeom prst="rect">
            <a:avLst/>
          </a:prstGeom>
          <a:solidFill>
            <a:srgbClr val="1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8300" y="1562100"/>
            <a:ext cx="406400" cy="406400"/>
          </a:xfrm>
          <a:prstGeom prst="round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41712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1397000"/>
            <a:ext cx="762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DFF26"/>
                </a:solidFill>
                <a:latin typeface="Calibri"/>
              </a:rPr>
              <a:t>Curate which skills auto-trigger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16510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Avoid skill sprawl: set most databricks-* skills to "user-invokable-only" in .claude/settings.local.json — keep databricks-core, databricks-docs, databricks-python-sdk, and databricks-unity-catalog "on".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8300" y="2387600"/>
            <a:ext cx="8407400" cy="990600"/>
          </a:xfrm>
          <a:prstGeom prst="rect">
            <a:avLst/>
          </a:prstGeom>
          <a:solidFill>
            <a:srgbClr val="1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8300" y="2679700"/>
            <a:ext cx="406400" cy="406400"/>
          </a:xfrm>
          <a:prstGeom prst="round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4171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2514600"/>
            <a:ext cx="762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DFF26"/>
                </a:solidFill>
                <a:latin typeface="Calibri"/>
              </a:rPr>
              <a:t>Reload after config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600" y="27686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Run /reload-skills so the agent picks up new skill overrides right away.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300" y="3505200"/>
            <a:ext cx="8407400" cy="990600"/>
          </a:xfrm>
          <a:prstGeom prst="rect">
            <a:avLst/>
          </a:prstGeom>
          <a:solidFill>
            <a:srgbClr val="1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68300" y="3797300"/>
            <a:ext cx="406400" cy="406400"/>
          </a:xfrm>
          <a:prstGeom prst="round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41712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600" y="3632200"/>
            <a:ext cx="762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DFF26"/>
                </a:solidFill>
                <a:latin typeface="Calibri"/>
              </a:rPr>
              <a:t>Keep the toolkit current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600" y="38862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Run databricks aitools update --scope project periodically — skills are CLI-managed, separate from this repo's version.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5100" cy="51435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origin-log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905000" cy="38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397000"/>
            <a:ext cx="9144000" cy="203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0" b="1" i="0">
                <a:solidFill>
                  <a:srgbClr val="ADFF26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556000"/>
            <a:ext cx="76200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Building a real Databricks Asset Bundle, live, with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00500"/>
            <a:ext cx="762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9B9B9B"/>
                </a:solidFill>
                <a:latin typeface="Calibri"/>
              </a:rPr>
              <a:t>(Using the Wanderbricks sample dataset.)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5100" cy="51435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origin-log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905000" cy="38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397000"/>
            <a:ext cx="63500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06600"/>
            <a:ext cx="762000" cy="25400"/>
          </a:xfrm>
          <a:prstGeom prst="rect">
            <a:avLst/>
          </a:prstGeom>
          <a:solidFill>
            <a:srgbClr val="ADF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184400"/>
            <a:ext cx="762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0" i="0" dirty="0">
                <a:solidFill>
                  <a:srgbClr val="FFFFFF"/>
                </a:solidFill>
                <a:latin typeface="Calibri"/>
              </a:rPr>
              <a:t>Jaipur 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Databricks User Group · 6th Edition · AI Dev Kit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3800"/>
            <a:ext cx="762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 err="1">
                <a:solidFill>
                  <a:srgbClr val="9B9B9B"/>
                </a:solidFill>
                <a:latin typeface="Calibri"/>
              </a:rPr>
              <a:t>databricks</a:t>
            </a:r>
            <a:r>
              <a:rPr sz="1000" b="0" i="0" dirty="0">
                <a:solidFill>
                  <a:srgbClr val="9B9B9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9B9B9B"/>
                </a:solidFill>
                <a:latin typeface="Calibri"/>
              </a:rPr>
              <a:t>aitools</a:t>
            </a:r>
            <a:r>
              <a:rPr sz="1000" b="0" i="0" dirty="0">
                <a:solidFill>
                  <a:srgbClr val="9B9B9B"/>
                </a:solidFill>
                <a:latin typeface="Calibri"/>
              </a:rPr>
              <a:t> install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37000"/>
            <a:ext cx="1600200" cy="457200"/>
          </a:xfrm>
          <a:prstGeom prst="roundRect">
            <a:avLst/>
          </a:prstGeom>
          <a:solidFill>
            <a:srgbClr val="344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Overview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84400" y="3937000"/>
            <a:ext cx="1600200" cy="457200"/>
          </a:xfrm>
          <a:prstGeom prst="roundRect">
            <a:avLst/>
          </a:prstGeom>
          <a:solidFill>
            <a:srgbClr val="344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Install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1600" y="3937000"/>
            <a:ext cx="1600200" cy="457200"/>
          </a:xfrm>
          <a:prstGeom prst="roundRect">
            <a:avLst/>
          </a:prstGeom>
          <a:solidFill>
            <a:srgbClr val="344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Best Practices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8800" y="3937000"/>
            <a:ext cx="1600200" cy="457200"/>
          </a:xfrm>
          <a:prstGeom prst="roundRect">
            <a:avLst/>
          </a:prstGeom>
          <a:solidFill>
            <a:srgbClr val="344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376</Words>
  <Application>Microsoft Macintosh PowerPoint</Application>
  <PresentationFormat>On-screen Show (16:9)</PresentationFormat>
  <Paragraphs>55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Bradley Jamrozik</cp:lastModifiedBy>
  <cp:revision>2</cp:revision>
  <dcterms:created xsi:type="dcterms:W3CDTF">2013-01-27T09:14:16Z</dcterms:created>
  <dcterms:modified xsi:type="dcterms:W3CDTF">2026-09-11T00:38:04Z</dcterms:modified>
  <cp:category/>
</cp:coreProperties>
</file>