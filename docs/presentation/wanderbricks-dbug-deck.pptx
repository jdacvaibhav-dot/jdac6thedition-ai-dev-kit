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32"/>
    <p:restoredTop sz="94643"/>
  </p:normalViewPr>
  <p:slideViewPr>
    <p:cSldViewPr snapToGrid="0" snapToObjects="1">
      <p:cViewPr varScale="1">
        <p:scale>
          <a:sx n="186" d="100"/>
          <a:sy n="186" d="100"/>
        </p:scale>
        <p:origin x="7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15507-4AC5-FD41-AEA4-5CE4886343C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FF540-DF48-7040-BAC3-F01319E21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76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FF540-DF48-7040-BAC3-F01319E21F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82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5100" cy="51435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origin-logo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1000"/>
            <a:ext cx="2159000" cy="431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70000"/>
            <a:ext cx="3556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AI-Assisted Databricks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59100"/>
            <a:ext cx="355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9B9B9B"/>
                </a:solidFill>
                <a:latin typeface="Calibri"/>
              </a:rPr>
              <a:t>Building on Databricks with the AI Dev 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19400"/>
            <a:ext cx="762000" cy="25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441700"/>
            <a:ext cx="3556000" cy="700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Jaipur 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Databricks User Group</a:t>
            </a:r>
          </a:p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6th Edition</a:t>
            </a:r>
          </a:p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Bradley Jamrozik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355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B9B9B"/>
                </a:solidFill>
                <a:latin typeface="Calibri"/>
              </a:rPr>
              <a:t>September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0"/>
            <a:ext cx="12700" cy="5143500"/>
          </a:xfrm>
          <a:prstGeom prst="rect">
            <a:avLst/>
          </a:prstGeom>
          <a:solidFill>
            <a:srgbClr val="34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9600" y="1270000"/>
            <a:ext cx="4318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we'll cover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41500"/>
            <a:ext cx="2006600" cy="381000"/>
          </a:xfrm>
          <a:prstGeom prst="roundRect">
            <a:avLst/>
          </a:prstGeom>
          <a:solidFill>
            <a:srgbClr val="222F2E"/>
          </a:solidFill>
          <a:ln w="12700">
            <a:solidFill>
              <a:srgbClr val="ADF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tlCol="0" anchor="ctr"/>
          <a:lstStyle/>
          <a:p>
            <a:pPr algn="ctr"/>
            <a:r>
              <a:rPr sz="1100" b="1">
                <a:solidFill>
                  <a:srgbClr val="ADFF26"/>
                </a:solidFill>
                <a:latin typeface="Calibri"/>
              </a:rPr>
              <a:t>Skill-based AI tooling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78600" y="1841500"/>
            <a:ext cx="2006600" cy="381000"/>
          </a:xfrm>
          <a:prstGeom prst="roundRect">
            <a:avLst/>
          </a:prstGeom>
          <a:solidFill>
            <a:srgbClr val="222F2E"/>
          </a:solidFill>
          <a:ln w="12700">
            <a:solidFill>
              <a:srgbClr val="ADF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tlCol="0" anchor="ctr"/>
          <a:lstStyle/>
          <a:p>
            <a:pPr algn="ctr"/>
            <a:r>
              <a:rPr sz="1100" b="1">
                <a:solidFill>
                  <a:srgbClr val="ADFF26"/>
                </a:solidFill>
                <a:latin typeface="Calibri"/>
              </a:rPr>
              <a:t>Install in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9600" y="2374900"/>
            <a:ext cx="2006600" cy="381000"/>
          </a:xfrm>
          <a:prstGeom prst="roundRect">
            <a:avLst/>
          </a:prstGeom>
          <a:solidFill>
            <a:srgbClr val="222F2E"/>
          </a:solidFill>
          <a:ln w="12700">
            <a:solidFill>
              <a:srgbClr val="ADF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tlCol="0" anchor="ctr"/>
          <a:lstStyle/>
          <a:p>
            <a:pPr algn="ctr"/>
            <a:r>
              <a:rPr sz="1100" b="1">
                <a:solidFill>
                  <a:srgbClr val="ADFF26"/>
                </a:solidFill>
                <a:latin typeface="Calibri"/>
              </a:rPr>
              <a:t>Best-practice curation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8600" y="2374900"/>
            <a:ext cx="2006600" cy="381000"/>
          </a:xfrm>
          <a:prstGeom prst="roundRect">
            <a:avLst/>
          </a:prstGeom>
          <a:solidFill>
            <a:srgbClr val="222F2E"/>
          </a:solidFill>
          <a:ln w="12700">
            <a:solidFill>
              <a:srgbClr val="ADF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tlCol="0" anchor="ctr"/>
          <a:lstStyle/>
          <a:p>
            <a:pPr algn="ctr"/>
            <a:r>
              <a:rPr sz="1100" b="1">
                <a:solidFill>
                  <a:srgbClr val="ADFF26"/>
                </a:solidFill>
                <a:latin typeface="Calibri"/>
              </a:rPr>
              <a:t>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2921000"/>
            <a:ext cx="4318000" cy="12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19600" y="2921000"/>
            <a:ext cx="4318000" cy="12700"/>
          </a:xfrm>
          <a:prstGeom prst="rect">
            <a:avLst/>
          </a:prstGeom>
          <a:solidFill>
            <a:srgbClr val="34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19600" y="3111500"/>
            <a:ext cx="431800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B9B9B"/>
                </a:solidFill>
                <a:latin typeface="Calibri"/>
              </a:rPr>
              <a:t>The Databricks AI Dev Kit turns a coding agent into a Databricks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B9B9B"/>
                </a:solidFill>
                <a:latin typeface="Calibri"/>
              </a:rPr>
              <a:t>expert — skills for bundles, pipelines, dashboards, and governance,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B9B9B"/>
                </a:solidFill>
                <a:latin typeface="Calibri"/>
              </a:rPr>
              <a:t>installed with one command.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8300" y="228600"/>
            <a:ext cx="84074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41712"/>
                </a:solidFill>
                <a:latin typeface="Calibri"/>
              </a:rPr>
              <a:t>What Is the AI Dev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300" y="6985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77766E"/>
                </a:solidFill>
                <a:latin typeface="Calibri"/>
              </a:rPr>
              <a:t>01 /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8300" y="965200"/>
            <a:ext cx="8407400" cy="12700"/>
          </a:xfrm>
          <a:prstGeom prst="rect">
            <a:avLst/>
          </a:prstGeom>
          <a:solidFill>
            <a:srgbClr val="E3E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origin-logo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00" y="4749800"/>
            <a:ext cx="182880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8300" y="1270000"/>
            <a:ext cx="8407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41712"/>
                </a:solidFill>
                <a:latin typeface="Calibri"/>
              </a:rPr>
              <a:t>A set of Databricks-specific skills for coding agents — Claude Code, Codex, GitHub Copilot, and others.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8300" y="2032000"/>
            <a:ext cx="8407400" cy="7874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8300" y="2032000"/>
            <a:ext cx="50800" cy="787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2133600"/>
            <a:ext cx="802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ADFF26"/>
                </a:solidFill>
                <a:latin typeface="Calibri"/>
              </a:rPr>
              <a:t>Domain expertise on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387600"/>
            <a:ext cx="8026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The agent gets Databricks-specific know-how — CLI auth, bundle structure, pipeline patterns — instead of generic guesses.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300" y="2946400"/>
            <a:ext cx="8407400" cy="7874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8300" y="2946400"/>
            <a:ext cx="50800" cy="787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" y="3048000"/>
            <a:ext cx="802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ADFF26"/>
                </a:solidFill>
                <a:latin typeface="Calibri"/>
              </a:rPr>
              <a:t>Works with your existing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302000"/>
            <a:ext cx="8026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No new tool to learn: it plugs into Claude Code (and other coding agents) as skills the agent reads before acting.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8300" y="3860800"/>
            <a:ext cx="8407400" cy="7874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8300" y="3860800"/>
            <a:ext cx="50800" cy="787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3962400"/>
            <a:ext cx="802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ADFF26"/>
                </a:solidFill>
                <a:latin typeface="Calibri"/>
              </a:rPr>
              <a:t>Built for real project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216400"/>
            <a:ext cx="8026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Lets an agent build and deploy Declarative Automation Bundles, pipelines, and dashboards — like the bundle powering this repo.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8300" y="228600"/>
            <a:ext cx="84074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41712"/>
                </a:solidFill>
                <a:latin typeface="Calibri"/>
              </a:rPr>
              <a:t>Install the AI Dev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300" y="6985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77766E"/>
                </a:solidFill>
                <a:latin typeface="Calibri"/>
              </a:rPr>
              <a:t>02 / Install &amp; Configure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8300" y="965200"/>
            <a:ext cx="8407400" cy="12700"/>
          </a:xfrm>
          <a:prstGeom prst="rect">
            <a:avLst/>
          </a:prstGeom>
          <a:solidFill>
            <a:srgbClr val="E3E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origin-logo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00" y="4749800"/>
            <a:ext cx="1828800" cy="365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8300" y="1270000"/>
            <a:ext cx="8407400" cy="6604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8300" y="1270000"/>
            <a:ext cx="50800" cy="660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500" y="1371600"/>
            <a:ext cx="812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ADFF26"/>
                </a:solidFill>
                <a:latin typeface="Consolas"/>
              </a:rPr>
              <a:t>databricks aitools 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651000"/>
            <a:ext cx="812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Default path — installs the official plugin, all skills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300" y="2057400"/>
            <a:ext cx="8407400" cy="6604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8300" y="2057400"/>
            <a:ext cx="50800" cy="660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" y="2159000"/>
            <a:ext cx="812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ADFF26"/>
                </a:solidFill>
                <a:latin typeface="Consolas"/>
              </a:rPr>
              <a:t>databricks aitools install --skills-only --scope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438400"/>
            <a:ext cx="812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Raw skill files only, scoped to this project.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300" y="2844800"/>
            <a:ext cx="8407400" cy="6604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8300" y="2844800"/>
            <a:ext cx="50800" cy="660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2946400"/>
            <a:ext cx="812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ADFF26"/>
                </a:solidFill>
                <a:latin typeface="Consolas"/>
              </a:rPr>
              <a:t>databricks aitools install --scope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3225800"/>
            <a:ext cx="812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Plugin-managed install, scoped to this project.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300" y="3632200"/>
            <a:ext cx="8407400" cy="6604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8300" y="3632200"/>
            <a:ext cx="50800" cy="660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" y="3733800"/>
            <a:ext cx="812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ADFF26"/>
                </a:solidFill>
                <a:latin typeface="Consolas"/>
              </a:rPr>
              <a:t>databricks aitools update --scope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4013200"/>
            <a:ext cx="812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Keep an installed project toolkit current.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8300" y="228600"/>
            <a:ext cx="84074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712"/>
                </a:solidFill>
                <a:latin typeface="Calibri"/>
              </a:rPr>
              <a:t>Why the AI Dev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300" y="6985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7766E"/>
                </a:solidFill>
                <a:latin typeface="Calibri"/>
              </a:rPr>
              <a:t>01 /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8300" y="965200"/>
            <a:ext cx="8407400" cy="12700"/>
          </a:xfrm>
          <a:prstGeom prst="rect">
            <a:avLst/>
          </a:prstGeom>
          <a:solidFill>
            <a:srgbClr val="E3E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400" y="4749800"/>
            <a:ext cx="182880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8300" y="1270000"/>
            <a:ext cx="8407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1712"/>
                </a:solidFill>
                <a:latin typeface="Calibri"/>
              </a:rPr>
              <a:t>Compared with Genie or a pile of custom skills, this keeps you in control.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8300" y="2032000"/>
            <a:ext cx="8407400" cy="7874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8300" y="2032000"/>
            <a:ext cx="50800" cy="787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2133600"/>
            <a:ext cx="800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DFF26"/>
                </a:solidFill>
                <a:latin typeface="Calibri"/>
              </a:rPr>
              <a:t>Stay in your 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387600"/>
            <a:ext cx="80074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Keep your own custom skills and workflow -- no new tool, no context switch.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300" y="2946400"/>
            <a:ext cx="8407400" cy="7874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8300" y="2946400"/>
            <a:ext cx="50800" cy="787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" y="3048000"/>
            <a:ext cx="800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DFF26"/>
                </a:solidFill>
                <a:latin typeface="Calibri"/>
              </a:rPr>
              <a:t>Delegate the boring 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302000"/>
            <a:ext cx="80074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Claude handles CLI auth, bundle scaffolding, and boilerplate work on its 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8300" y="3860800"/>
            <a:ext cx="8407400" cy="7874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8300" y="3860800"/>
            <a:ext cx="50800" cy="787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3962400"/>
            <a:ext cx="800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DFF26"/>
                </a:solidFill>
                <a:latin typeface="Calibri"/>
              </a:rPr>
              <a:t>Focus on the hard 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216400"/>
            <a:ext cx="80074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Spend your time on the architecture and decisions that actually need a human.</a:t>
            </a:r>
          </a:p>
        </p:txBody>
      </p:sp>
    </p:spTree>
    <p:extLst>
      <p:ext uri="{BB962C8B-B14F-4D97-AF65-F5344CB8AC3E}">
        <p14:creationId xmlns:p14="http://schemas.microsoft.com/office/powerpoint/2010/main" val="211958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8300" y="228600"/>
            <a:ext cx="84074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41712"/>
                </a:solidFill>
                <a:latin typeface="Calibri"/>
              </a:rP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300" y="6985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77766E"/>
                </a:solidFill>
                <a:latin typeface="Calibri"/>
              </a:rPr>
              <a:t>02 / Install &amp; Configure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8300" y="965200"/>
            <a:ext cx="8407400" cy="12700"/>
          </a:xfrm>
          <a:prstGeom prst="rect">
            <a:avLst/>
          </a:prstGeom>
          <a:solidFill>
            <a:srgbClr val="E3E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origin-logo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00" y="4749800"/>
            <a:ext cx="1828800" cy="365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8300" y="1270000"/>
            <a:ext cx="8407400" cy="9906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8300" y="1562100"/>
            <a:ext cx="406400" cy="406400"/>
          </a:xfrm>
          <a:prstGeom prst="round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712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1397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DFF26"/>
                </a:solidFill>
                <a:latin typeface="Calibri"/>
              </a:rPr>
              <a:t>Curate which skills auto-trigger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16510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Avoid skill sprawl: set most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databricks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-* skills to "user-invokable-only" in .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claude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/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settings.local.json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— keep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databricks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-core,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databricks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-docs,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databricks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-python-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sdk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, and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databricks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-unity-catalog "on".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300" y="2387600"/>
            <a:ext cx="8407400" cy="9906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8300" y="2679700"/>
            <a:ext cx="406400" cy="406400"/>
          </a:xfrm>
          <a:prstGeom prst="round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712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5146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DFF26"/>
                </a:solidFill>
                <a:latin typeface="Calibri"/>
              </a:rPr>
              <a:t>Reload after config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27686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Run /reload-skills so the agent picks up new skill overrides right away.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300" y="3505200"/>
            <a:ext cx="8407400" cy="990600"/>
          </a:xfrm>
          <a:prstGeom prst="rect">
            <a:avLst/>
          </a:prstGeom>
          <a:solidFill>
            <a:srgbClr val="14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8300" y="3797300"/>
            <a:ext cx="406400" cy="406400"/>
          </a:xfrm>
          <a:prstGeom prst="round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712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36322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DFF26"/>
                </a:solidFill>
                <a:latin typeface="Calibri"/>
              </a:rPr>
              <a:t>Keep the toolkit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38862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Run databricks aitools update --scope project periodically — skills are CLI-managed, separate from this repo's version.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5100" cy="51435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origin-logo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905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397000"/>
            <a:ext cx="9144000" cy="20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0" b="1" i="0">
                <a:solidFill>
                  <a:srgbClr val="ADFF26"/>
                </a:solidFill>
                <a:latin typeface="Calibr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56000"/>
            <a:ext cx="762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Building a real Databricks Asset Bundle, live, with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00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B9B9B"/>
                </a:solidFill>
                <a:latin typeface="Calibri"/>
              </a:rPr>
              <a:t>(Using the Wanderbricks sample dataset.)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5100" cy="51435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origin-logo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905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97000"/>
            <a:ext cx="6350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06600"/>
            <a:ext cx="762000" cy="25400"/>
          </a:xfrm>
          <a:prstGeom prst="rect">
            <a:avLst/>
          </a:prstGeom>
          <a:solidFill>
            <a:srgbClr val="ADF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184400"/>
            <a:ext cx="762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FFFFFF"/>
                </a:solidFill>
                <a:latin typeface="Calibri"/>
              </a:rPr>
              <a:t>Jaipur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Databricks User Group · 6th Edition · AI Dev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3800"/>
            <a:ext cx="762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 err="1">
                <a:solidFill>
                  <a:srgbClr val="9B9B9B"/>
                </a:solidFill>
                <a:latin typeface="Calibri"/>
              </a:rPr>
              <a:t>databricks</a:t>
            </a:r>
            <a:r>
              <a:rPr sz="1000" b="0" i="0" dirty="0">
                <a:solidFill>
                  <a:srgbClr val="9B9B9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B9B9B"/>
                </a:solidFill>
                <a:latin typeface="Calibri"/>
              </a:rPr>
              <a:t>aitools</a:t>
            </a:r>
            <a:r>
              <a:rPr sz="1000" b="0" i="0" dirty="0">
                <a:solidFill>
                  <a:srgbClr val="9B9B9B"/>
                </a:solidFill>
                <a:latin typeface="Calibri"/>
              </a:rPr>
              <a:t> install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7000"/>
            <a:ext cx="1600200" cy="457200"/>
          </a:xfrm>
          <a:prstGeom prst="roundRect">
            <a:avLst/>
          </a:prstGeom>
          <a:solidFill>
            <a:srgbClr val="34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4400" y="3937000"/>
            <a:ext cx="1600200" cy="457200"/>
          </a:xfrm>
          <a:prstGeom prst="roundRect">
            <a:avLst/>
          </a:prstGeom>
          <a:solidFill>
            <a:srgbClr val="34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Install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11600" y="3937000"/>
            <a:ext cx="1600200" cy="457200"/>
          </a:xfrm>
          <a:prstGeom prst="roundRect">
            <a:avLst/>
          </a:prstGeom>
          <a:solidFill>
            <a:srgbClr val="34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Best Practices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38800" y="3937000"/>
            <a:ext cx="1600200" cy="457200"/>
          </a:xfrm>
          <a:prstGeom prst="roundRect">
            <a:avLst/>
          </a:prstGeom>
          <a:solidFill>
            <a:srgbClr val="34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461</Words>
  <Application>Microsoft Macintosh PowerPoint</Application>
  <PresentationFormat>On-screen Show (16:9)</PresentationFormat>
  <Paragraphs>65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Bradley Jamrozik</cp:lastModifiedBy>
  <cp:revision>4</cp:revision>
  <dcterms:created xsi:type="dcterms:W3CDTF">2013-01-27T09:14:16Z</dcterms:created>
  <dcterms:modified xsi:type="dcterms:W3CDTF">2026-09-11T14:42:36Z</dcterms:modified>
  <cp:category/>
</cp:coreProperties>
</file>